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17" r:id="rId2"/>
    <p:sldId id="256" r:id="rId3"/>
    <p:sldId id="257" r:id="rId4"/>
    <p:sldId id="258" r:id="rId5"/>
    <p:sldId id="259" r:id="rId6"/>
    <p:sldId id="318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9452"/>
  </p:normalViewPr>
  <p:slideViewPr>
    <p:cSldViewPr snapToGrid="0" snapToObjects="1">
      <p:cViewPr varScale="1">
        <p:scale>
          <a:sx n="100" d="100"/>
          <a:sy n="100" d="100"/>
        </p:scale>
        <p:origin x="15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944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1383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topics provided by the user in the prompt for class sequence.
How executives are thinking about AI heading into 2026: https://hbr.org/2026/01/hb-how-executives-are-thinking-about-ai-heading-into-2026
Create an Onboarding Plan for AI Agents: https://hbr.org/2026/03/create-an-onboarding-plan-for-ai-agents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industry events (e.g., NY AI Summit):</a:t>
            </a:r>
          </a:p>
          <a:p>
            <a:r>
              <a:rPr lang="en-US" dirty="0"/>
              <a:t>Massive focus on </a:t>
            </a:r>
            <a:r>
              <a:rPr lang="en-US" b="1" dirty="0"/>
              <a:t>Agentic AI</a:t>
            </a:r>
            <a:endParaRPr lang="en-US" dirty="0"/>
          </a:p>
          <a:p>
            <a:r>
              <a:rPr lang="en-US" dirty="0"/>
              <a:t>Shift from copilots → </a:t>
            </a:r>
            <a:r>
              <a:rPr lang="en-US" b="1" dirty="0"/>
              <a:t>autonomous workflows</a:t>
            </a:r>
            <a:endParaRPr lang="en-US" dirty="0"/>
          </a:p>
          <a:p>
            <a:r>
              <a:rPr lang="en-US" dirty="0"/>
              <a:t>From executive surveys:</a:t>
            </a:r>
          </a:p>
          <a:p>
            <a:r>
              <a:rPr lang="en-US" dirty="0"/>
              <a:t>High investment, but </a:t>
            </a:r>
            <a:r>
              <a:rPr lang="en-US" b="1" dirty="0"/>
              <a:t>unclear ROI in many orgs</a:t>
            </a:r>
            <a:endParaRPr lang="en-US" dirty="0"/>
          </a:p>
          <a:p>
            <a:r>
              <a:rPr lang="en-US" dirty="0"/>
              <a:t>Biggest gaps:</a:t>
            </a:r>
          </a:p>
          <a:p>
            <a:r>
              <a:rPr lang="en-US" dirty="0"/>
              <a:t>Talent capability</a:t>
            </a:r>
          </a:p>
          <a:p>
            <a:r>
              <a:rPr lang="en-US" dirty="0"/>
              <a:t>Integration into workflows</a:t>
            </a:r>
          </a:p>
          <a:p>
            <a:r>
              <a:rPr lang="en-US" dirty="0"/>
              <a:t>Trust &amp; governance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tension we discussed:</a:t>
            </a:r>
            <a:endParaRPr lang="en-US" dirty="0"/>
          </a:p>
          <a:p>
            <a:r>
              <a:rPr lang="en-US" dirty="0"/>
              <a:t>Leaders are excited about AI</a:t>
            </a:r>
          </a:p>
          <a:p>
            <a:r>
              <a:rPr lang="en-US" dirty="0"/>
              <a:t>But organizations are </a:t>
            </a:r>
            <a:r>
              <a:rPr lang="en-US" b="1" dirty="0"/>
              <a:t>not yet structurally ready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Takeaway: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bottleneck is no longer the technology—it’s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people, processes, and leadership clarity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3 — Human Impact: How AI Is Changing Work (and You)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Core idea:</a:t>
            </a:r>
            <a:r>
              <a:rPr lang="en-US" dirty="0"/>
              <a:t> AI doesn’t just help work—it reshapes how we think and feel about work.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 Gen Z + HBR discussions:</a:t>
            </a:r>
          </a:p>
          <a:p>
            <a:r>
              <a:rPr lang="en-US" dirty="0"/>
              <a:t>Heavy users of AI—but:</a:t>
            </a:r>
          </a:p>
          <a:p>
            <a:r>
              <a:rPr lang="en-US" dirty="0"/>
              <a:t>Concerned about </a:t>
            </a:r>
            <a:r>
              <a:rPr lang="en-US" b="1" dirty="0"/>
              <a:t>over-reliance</a:t>
            </a:r>
            <a:endParaRPr lang="en-US" dirty="0"/>
          </a:p>
          <a:p>
            <a:r>
              <a:rPr lang="en-US" dirty="0"/>
              <a:t>Worried about </a:t>
            </a:r>
            <a:r>
              <a:rPr lang="en-US" b="1" dirty="0"/>
              <a:t>losing originality and skills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 “AI intensifies work”:</a:t>
            </a:r>
          </a:p>
          <a:p>
            <a:r>
              <a:rPr lang="en-US" dirty="0"/>
              <a:t>AI → faster output → </a:t>
            </a:r>
            <a:r>
              <a:rPr lang="en-US" b="1" dirty="0"/>
              <a:t>higher expectations</a:t>
            </a:r>
            <a:endParaRPr lang="en-US" dirty="0"/>
          </a:p>
          <a:p>
            <a:r>
              <a:rPr lang="en-US" dirty="0"/>
              <a:t>Work becomes:</a:t>
            </a:r>
          </a:p>
          <a:p>
            <a:r>
              <a:rPr lang="en-US" dirty="0"/>
              <a:t>More cognitively demanding</a:t>
            </a:r>
          </a:p>
          <a:p>
            <a:r>
              <a:rPr lang="en-US" dirty="0"/>
              <a:t>More always-on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 “brain fry”:</a:t>
            </a:r>
          </a:p>
          <a:p>
            <a:r>
              <a:rPr lang="en-US" dirty="0"/>
              <a:t>Cognitive overload from constant AI interaction</a:t>
            </a:r>
          </a:p>
          <a:p>
            <a:r>
              <a:rPr lang="en-US" dirty="0"/>
              <a:t>Reduced deep thinking if used passively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Class insight:</a:t>
            </a:r>
            <a:endParaRPr lang="en-US" dirty="0"/>
          </a:p>
          <a:p>
            <a:r>
              <a:rPr lang="en-US" dirty="0"/>
              <a:t>AI creates a paradox:</a:t>
            </a:r>
          </a:p>
          <a:p>
            <a:r>
              <a:rPr lang="en-US" b="1" dirty="0"/>
              <a:t>More productivity</a:t>
            </a:r>
            <a:endParaRPr lang="en-US" dirty="0"/>
          </a:p>
          <a:p>
            <a:r>
              <a:rPr lang="en-US" dirty="0"/>
              <a:t>But also </a:t>
            </a:r>
            <a:r>
              <a:rPr lang="en-US" b="1" dirty="0"/>
              <a:t>more pressure and mental strain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Takeaway: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AI well requires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intentional thinking, not passive delegation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4 — What Great AI Users &amp; Organizations Do Differently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Core idea:</a:t>
            </a:r>
            <a:r>
              <a:rPr lang="en-US" dirty="0"/>
              <a:t> The difference is not access—it’s </a:t>
            </a:r>
            <a:r>
              <a:rPr lang="en-US" i="1" dirty="0"/>
              <a:t>behavior and design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 onboarding agents &amp; top AI users:</a:t>
            </a:r>
          </a:p>
          <a:p>
            <a:r>
              <a:rPr lang="en-US" dirty="0"/>
              <a:t>Best users:</a:t>
            </a:r>
          </a:p>
          <a:p>
            <a:r>
              <a:rPr lang="en-US" dirty="0"/>
              <a:t>Iterate with AI (not one-shot prompts)</a:t>
            </a:r>
          </a:p>
          <a:p>
            <a:r>
              <a:rPr lang="en-US" dirty="0"/>
              <a:t>Treat AI as a </a:t>
            </a:r>
            <a:r>
              <a:rPr lang="en-US" b="1" dirty="0"/>
              <a:t>thinking partner</a:t>
            </a:r>
            <a:endParaRPr lang="en-US" dirty="0"/>
          </a:p>
          <a:p>
            <a:r>
              <a:rPr lang="en-US" dirty="0"/>
              <a:t>Break problems into </a:t>
            </a:r>
            <a:r>
              <a:rPr lang="en-US" b="1" dirty="0"/>
              <a:t>structured steps</a:t>
            </a:r>
            <a:endParaRPr lang="en-US" dirty="0"/>
          </a:p>
          <a:p>
            <a:r>
              <a:rPr lang="en-US" dirty="0"/>
              <a:t>Organizations succeeding with AI:</a:t>
            </a:r>
          </a:p>
          <a:p>
            <a:r>
              <a:rPr lang="en-US" dirty="0"/>
              <a:t>Treat agents like </a:t>
            </a:r>
            <a:r>
              <a:rPr lang="en-US" b="1" dirty="0"/>
              <a:t>employees</a:t>
            </a:r>
            <a:r>
              <a:rPr lang="en-US" dirty="0"/>
              <a:t> (onboarding, roles, feedback loops)</a:t>
            </a:r>
          </a:p>
          <a:p>
            <a:r>
              <a:rPr lang="en-US" dirty="0"/>
              <a:t>Redesign workflows—not just add AI on top</a:t>
            </a:r>
          </a:p>
          <a:p>
            <a:r>
              <a:rPr lang="en-US" dirty="0"/>
              <a:t>Invest in </a:t>
            </a:r>
            <a:r>
              <a:rPr lang="en-US" b="1" dirty="0"/>
              <a:t>training, not just tools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 fireside chat on jobs:</a:t>
            </a:r>
          </a:p>
          <a:p>
            <a:r>
              <a:rPr lang="en-US" dirty="0"/>
              <a:t>Jobs are not disappearing—they’re </a:t>
            </a:r>
            <a:r>
              <a:rPr lang="en-US" b="1" dirty="0"/>
              <a:t>evolving</a:t>
            </a:r>
            <a:endParaRPr lang="en-US" dirty="0"/>
          </a:p>
          <a:p>
            <a:r>
              <a:rPr lang="en-US" dirty="0"/>
              <a:t>Value shifts toward:</a:t>
            </a:r>
          </a:p>
          <a:p>
            <a:r>
              <a:rPr lang="en-US" dirty="0"/>
              <a:t>Judgment</a:t>
            </a:r>
          </a:p>
          <a:p>
            <a:r>
              <a:rPr lang="en-US" dirty="0"/>
              <a:t>Creativity</a:t>
            </a:r>
          </a:p>
          <a:p>
            <a:r>
              <a:rPr lang="en-US" dirty="0"/>
              <a:t>Coordination with AI systems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Final takeaway: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 skill you’ve been building is: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lead, think, and create in an AI-augmented world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“As you fill out your evaluations, think about this:</a:t>
            </a:r>
          </a:p>
          <a:p>
            <a:r>
              <a:rPr lang="en-US" dirty="0"/>
              <a:t>What changed in how you </a:t>
            </a:r>
            <a:r>
              <a:rPr lang="en-US" i="1" dirty="0"/>
              <a:t>approach problems, think, or work with AI</a:t>
            </a:r>
            <a:r>
              <a:rPr lang="en-US" dirty="0"/>
              <a:t> compared to the beginning of the semester? That shift is the real outcome of this class.”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384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Title slide">
  <p:cSld name="1. 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548634" y="585216"/>
            <a:ext cx="4710000" cy="1170750"/>
          </a:xfrm>
          <a:prstGeom prst="rect">
            <a:avLst/>
          </a:prstGeom>
        </p:spPr>
        <p:txBody>
          <a:bodyPr spcFirstLastPara="1" wrap="square" lIns="0" tIns="195025" rIns="0" bIns="0" anchor="t" anchorCtr="0">
            <a:noAutofit/>
          </a:bodyPr>
          <a:lstStyle>
            <a:lvl1pPr marL="228600" lvl="0" indent="-231775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marL="457200" lvl="1" indent="-231775">
              <a:spcBef>
                <a:spcPts val="800"/>
              </a:spcBef>
              <a:spcAft>
                <a:spcPts val="0"/>
              </a:spcAft>
              <a:buSzPts val="3700"/>
              <a:buChar char="○"/>
              <a:defRPr/>
            </a:lvl2pPr>
            <a:lvl3pPr marL="685800" lvl="2" indent="-231775">
              <a:spcBef>
                <a:spcPts val="800"/>
              </a:spcBef>
              <a:spcAft>
                <a:spcPts val="0"/>
              </a:spcAft>
              <a:buSzPts val="3700"/>
              <a:buChar char="■"/>
              <a:defRPr/>
            </a:lvl3pPr>
            <a:lvl4pPr marL="914400" lvl="3" indent="-231775">
              <a:spcBef>
                <a:spcPts val="800"/>
              </a:spcBef>
              <a:spcAft>
                <a:spcPts val="0"/>
              </a:spcAft>
              <a:buSzPts val="3700"/>
              <a:buChar char="●"/>
              <a:defRPr/>
            </a:lvl4pPr>
            <a:lvl5pPr marL="1143000" lvl="4" indent="-231775">
              <a:spcBef>
                <a:spcPts val="800"/>
              </a:spcBef>
              <a:spcAft>
                <a:spcPts val="0"/>
              </a:spcAft>
              <a:buSzPts val="3700"/>
              <a:buChar char="○"/>
              <a:defRPr/>
            </a:lvl5pPr>
            <a:lvl6pPr marL="1371600" lvl="5" indent="-231775">
              <a:spcBef>
                <a:spcPts val="800"/>
              </a:spcBef>
              <a:spcAft>
                <a:spcPts val="0"/>
              </a:spcAft>
              <a:buSzPts val="3700"/>
              <a:buChar char="■"/>
              <a:defRPr/>
            </a:lvl6pPr>
            <a:lvl7pPr marL="1600200" lvl="6" indent="-231775">
              <a:spcBef>
                <a:spcPts val="800"/>
              </a:spcBef>
              <a:spcAft>
                <a:spcPts val="0"/>
              </a:spcAft>
              <a:buSzPts val="3700"/>
              <a:buChar char="●"/>
              <a:defRPr/>
            </a:lvl7pPr>
            <a:lvl8pPr marL="1828800" lvl="7" indent="-231775">
              <a:spcBef>
                <a:spcPts val="800"/>
              </a:spcBef>
              <a:spcAft>
                <a:spcPts val="0"/>
              </a:spcAft>
              <a:buSzPts val="3700"/>
              <a:buChar char="○"/>
              <a:defRPr/>
            </a:lvl8pPr>
            <a:lvl9pPr marL="2057400" lvl="8" indent="-231775">
              <a:spcBef>
                <a:spcPts val="800"/>
              </a:spcBef>
              <a:spcAft>
                <a:spcPts val="80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548633" y="1682117"/>
            <a:ext cx="9215400" cy="2719200"/>
          </a:xfrm>
          <a:prstGeom prst="rect">
            <a:avLst/>
          </a:prstGeom>
        </p:spPr>
        <p:txBody>
          <a:bodyPr spcFirstLastPara="1" wrap="square" lIns="0" tIns="243750" rIns="0" bIns="2437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8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34" y="4718300"/>
            <a:ext cx="7325550" cy="856800"/>
          </a:xfrm>
          <a:prstGeom prst="rect">
            <a:avLst/>
          </a:prstGeom>
        </p:spPr>
        <p:txBody>
          <a:bodyPr spcFirstLastPara="1" wrap="square" lIns="0" tIns="195025" rIns="0" bIns="0" anchor="t" anchorCtr="0">
            <a:noAutofit/>
          </a:bodyPr>
          <a:lstStyle>
            <a:lvl1pPr marL="228600" lvl="0" indent="-231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1pPr>
            <a:lvl2pPr marL="457200" lvl="1" indent="-231775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3700"/>
              <a:buChar char="○"/>
              <a:defRPr/>
            </a:lvl2pPr>
            <a:lvl3pPr marL="685800" lvl="2" indent="-231775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3700"/>
              <a:buChar char="■"/>
              <a:defRPr/>
            </a:lvl3pPr>
            <a:lvl4pPr marL="914400" lvl="3" indent="-231775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3700"/>
              <a:buChar char="●"/>
              <a:defRPr/>
            </a:lvl4pPr>
            <a:lvl5pPr marL="1143000" lvl="4" indent="-231775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3700"/>
              <a:buChar char="○"/>
              <a:defRPr/>
            </a:lvl5pPr>
            <a:lvl6pPr marL="1371600" lvl="5" indent="-231775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3700"/>
              <a:buChar char="■"/>
              <a:defRPr/>
            </a:lvl6pPr>
            <a:lvl7pPr marL="1600200" lvl="6" indent="-231775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3700"/>
              <a:buChar char="●"/>
              <a:defRPr/>
            </a:lvl7pPr>
            <a:lvl8pPr marL="1828800" lvl="7" indent="-231775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3700"/>
              <a:buChar char="○"/>
              <a:defRPr/>
            </a:lvl8pPr>
            <a:lvl9pPr marL="2057400" lvl="8" indent="-231775">
              <a:lnSpc>
                <a:spcPct val="100000"/>
              </a:lnSpc>
              <a:spcBef>
                <a:spcPts val="250"/>
              </a:spcBef>
              <a:spcAft>
                <a:spcPts val="25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349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title"/>
          </p:nvPr>
        </p:nvSpPr>
        <p:spPr>
          <a:xfrm>
            <a:off x="550088" y="2157988"/>
            <a:ext cx="9213150" cy="3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875" rIns="0" bIns="121875" anchor="b" anchorCtr="0">
            <a:noAutofit/>
          </a:bodyPr>
          <a:lstStyle/>
          <a:p>
            <a:r>
              <a:rPr lang="en-US" dirty="0"/>
              <a:t>CSCI 7000-006 </a:t>
            </a:r>
            <a:br>
              <a:rPr lang="en-US" dirty="0"/>
            </a:br>
            <a:r>
              <a:rPr lang="en-US" dirty="0"/>
              <a:t>AI-driven Leadership</a:t>
            </a:r>
            <a:endParaRPr dirty="0"/>
          </a:p>
        </p:txBody>
      </p:sp>
      <p:sp>
        <p:nvSpPr>
          <p:cNvPr id="92" name="Google Shape;92;p1"/>
          <p:cNvSpPr txBox="1">
            <a:spLocks noGrp="1"/>
          </p:cNvSpPr>
          <p:nvPr>
            <p:ph type="body" idx="2"/>
          </p:nvPr>
        </p:nvSpPr>
        <p:spPr>
          <a:xfrm>
            <a:off x="550088" y="5330950"/>
            <a:ext cx="732375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513" rIns="0" bIns="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Danny Dig</a:t>
            </a:r>
            <a:endParaRPr dirty="0"/>
          </a:p>
          <a:p>
            <a:pPr marL="0" indent="0">
              <a:spcBef>
                <a:spcPts val="350"/>
              </a:spcBef>
              <a:spcAft>
                <a:spcPts val="350"/>
              </a:spcAft>
              <a:buNone/>
            </a:pPr>
            <a:r>
              <a:rPr lang="en-US" dirty="0"/>
              <a:t>University of Colorado</a:t>
            </a:r>
            <a:endParaRPr dirty="0"/>
          </a:p>
        </p:txBody>
      </p:sp>
      <p:pic>
        <p:nvPicPr>
          <p:cNvPr id="94" name="Google Shape;94;p1" descr="The Future of AI Virtual Assistant in Businesses in 2024"/>
          <p:cNvPicPr preferRelativeResize="0"/>
          <p:nvPr/>
        </p:nvPicPr>
        <p:blipFill rotWithShape="1">
          <a:blip r:embed="rId3">
            <a:alphaModFix amt="41000"/>
          </a:blip>
          <a:srcRect/>
          <a:stretch/>
        </p:blipFill>
        <p:spPr>
          <a:xfrm>
            <a:off x="1797971" y="0"/>
            <a:ext cx="12151733" cy="681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 descr="Profile photo for Danny D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088" y="4369553"/>
            <a:ext cx="1134005" cy="1134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964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Semester recap: What this seminar was really about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A quick refresher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5544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8408" y="1618488"/>
            <a:ext cx="1152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STARTING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033"/>
                </a:solidFill>
              </a:rPr>
              <a:t>Why now?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7432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AI moved from tool to collaborator
• Communicating with AI became a leadership skill
• Organizations began redesigning work around AI, not just adding a tool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8646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67A"/>
                </a:solidFill>
              </a:rPr>
              <a:t>Big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50109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7BFF"/>
                </a:solidFill>
              </a:rPr>
              <a:t>The course was about learning to think, lead, and decide in an AI-augmented world.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1325880"/>
            <a:ext cx="7178040" cy="4480560"/>
          </a:xfrm>
          <a:prstGeom prst="roundRect">
            <a:avLst>
              <a:gd name="adj" fmla="val 1633"/>
            </a:avLst>
          </a:prstGeom>
          <a:solidFill>
            <a:srgbClr val="F1F6FF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55448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27448" y="16184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OUR ARC THIS SEMESTER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45152" y="2075688"/>
            <a:ext cx="384048" cy="384048"/>
          </a:xfrm>
          <a:prstGeom prst="ellipse">
            <a:avLst/>
          </a:prstGeom>
          <a:solidFill>
            <a:srgbClr val="3A7B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5152" y="2148840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93792" y="2057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</a:rPr>
              <a:t>Understand 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20574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</a:rPr>
              <a:t>prompting, communication, leadership context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37176" y="2478024"/>
            <a:ext cx="0" cy="530352"/>
          </a:xfrm>
          <a:prstGeom prst="line">
            <a:avLst/>
          </a:prstGeom>
          <a:noFill/>
          <a:ln w="12700">
            <a:solidFill>
              <a:srgbClr val="9CC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45152" y="2916936"/>
            <a:ext cx="384048" cy="384048"/>
          </a:xfrm>
          <a:prstGeom prst="ellipse">
            <a:avLst/>
          </a:prstGeom>
          <a:solidFill>
            <a:srgbClr val="3A7B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45152" y="2990088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93792" y="2898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</a:rPr>
              <a:t>Reality check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898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</a:rPr>
              <a:t>industry adoption, agents, executive trends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37176" y="3319272"/>
            <a:ext cx="0" cy="530352"/>
          </a:xfrm>
          <a:prstGeom prst="line">
            <a:avLst/>
          </a:prstGeom>
          <a:noFill/>
          <a:ln w="12700">
            <a:solidFill>
              <a:srgbClr val="9CC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45152" y="3758184"/>
            <a:ext cx="384048" cy="384048"/>
          </a:xfrm>
          <a:prstGeom prst="ellipse">
            <a:avLst/>
          </a:prstGeom>
          <a:solidFill>
            <a:srgbClr val="20C5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45152" y="3831336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93792" y="37398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</a:rPr>
              <a:t>Human impact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37398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</a:rPr>
              <a:t>Gen Z, workload, fatigue, jobs, trust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37176" y="4160520"/>
            <a:ext cx="0" cy="530352"/>
          </a:xfrm>
          <a:prstGeom prst="line">
            <a:avLst/>
          </a:prstGeom>
          <a:noFill/>
          <a:ln w="12700">
            <a:solidFill>
              <a:srgbClr val="9CC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45152" y="4599432"/>
            <a:ext cx="384048" cy="384048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45152" y="4672584"/>
            <a:ext cx="384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93792" y="45811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3"/>
                </a:solidFill>
              </a:rPr>
              <a:t>Managerial response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86600" y="45811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</a:rPr>
              <a:t>onboarding agents, building capability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learned about the market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AI adoption is accelerating — but implementation is still messy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436116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6480" y="1527048"/>
            <a:ext cx="1335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INDUSTRY SIGNALS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033"/>
                </a:solidFill>
              </a:rPr>
              <a:t>From summit discussions and executive surveys: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633472"/>
            <a:ext cx="28346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Agentic AI moved to center stage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Leaders stayed bullish despite slow ROI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The biggest barriers were capability, workflow redesign, and governance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67A"/>
                </a:solidFill>
              </a:rPr>
              <a:t>Bottom line: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2980" y="547605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7BFF"/>
                </a:solidFill>
              </a:rPr>
              <a:t>The challenge is less “Can AI do it?” and more “Can organizations manage it well?”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6903720" cy="4526280"/>
          </a:xfrm>
          <a:prstGeom prst="roundRect">
            <a:avLst>
              <a:gd name="adj" fmla="val 1616"/>
            </a:avLst>
          </a:prstGeom>
          <a:solidFill>
            <a:srgbClr val="12284A"/>
          </a:solidFill>
          <a:ln w="12700">
            <a:solidFill>
              <a:srgbClr val="2B4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From tools to agents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C7E6"/>
                </a:solidFill>
              </a:rPr>
              <a:t>2023–24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63347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Ask AI for answers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2697480"/>
            <a:ext cx="384048" cy="256032"/>
          </a:xfrm>
          <a:prstGeom prst="chevron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C7E6"/>
                </a:solidFill>
              </a:rPr>
              <a:t>2025–26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2633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Design AI-enabled workflows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52560" y="2697480"/>
            <a:ext cx="384048" cy="256032"/>
          </a:xfrm>
          <a:prstGeom prst="chevron">
            <a:avLst/>
          </a:prstGeom>
          <a:solidFill>
            <a:srgbClr val="20C5C7"/>
          </a:solidFill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46920" y="21762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7E6"/>
                </a:solidFill>
              </a:rPr>
              <a:t>Next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55480" y="2487168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Manage humans + agents together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C7E6"/>
                </a:solidFill>
              </a:rPr>
              <a:t>Leadership implication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4206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Competitive advantage comes from experimentation, role clarity, and responsible oversight — not just buying a model.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0C5C7"/>
          </a:solidFill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learned about people and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AI changes effort, identity, expectations, and attention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926080" cy="3931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847088"/>
            <a:ext cx="347472" cy="347472"/>
          </a:xfrm>
          <a:prstGeom prst="ellipse">
            <a:avLst/>
          </a:prstGeom>
          <a:solidFill>
            <a:srgbClr val="3A7BFF"/>
          </a:solidFill>
          <a:ln w="12700">
            <a:solidFill>
              <a:srgbClr val="3A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3312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033"/>
                </a:solidFill>
              </a:rPr>
              <a:t>Gen Z paradox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32688" y="2423160"/>
            <a:ext cx="2514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42033"/>
                </a:solidFill>
              </a:rPr>
              <a:t>Your generation uses AI fluently, but also worries about originality, skill loss, fairness, and what counts as “real” learning or work.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493021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A"/>
                </a:solidFill>
              </a:rPr>
              <a:t>Class insight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5009657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7BFF"/>
                </a:solidFill>
              </a:rPr>
              <a:t>Using AI well is also an ethical and developmental question.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9080" y="1687622"/>
            <a:ext cx="2926080" cy="3931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33672" y="1847088"/>
            <a:ext cx="347472" cy="347472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0872" y="182880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033"/>
                </a:solidFill>
              </a:rPr>
              <a:t>Work intensification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70248" y="2423160"/>
            <a:ext cx="2514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42033"/>
                </a:solidFill>
              </a:rPr>
              <a:t>AI often speeds up tasks — then raises expectations. Faster output can become more tasks, more review, and more pressure.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70248" y="47091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A"/>
                </a:solidFill>
              </a:rPr>
              <a:t>Class insight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70248" y="510637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700"/>
                </a:solidFill>
              </a:rPr>
              <a:t>Productivity gains do not automatically mean less work.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0" y="1645920"/>
            <a:ext cx="2926080" cy="3931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71232" y="1847088"/>
            <a:ext cx="347472" cy="347472"/>
          </a:xfrm>
          <a:prstGeom prst="ellipse">
            <a:avLst/>
          </a:prstGeom>
          <a:solidFill>
            <a:srgbClr val="20C5C7"/>
          </a:solidFill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28432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033"/>
                </a:solidFill>
              </a:rPr>
              <a:t>Brain fry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07808" y="2423160"/>
            <a:ext cx="2514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42033"/>
                </a:solidFill>
              </a:rPr>
              <a:t>Not all AI use feels the same. Passive overreliance can create cognitive fatigue; intentional use can reduce friction without replacing thinking.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07808" y="47091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67A"/>
                </a:solidFill>
              </a:rPr>
              <a:t>Class insight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07808" y="5096323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C5C7"/>
                </a:solidFill>
              </a:rPr>
              <a:t>The goal is augmentation, not mental outsourcing.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strong AI leadership looks like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The course ended with capability-building, not hype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664208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9848" y="1728216"/>
            <a:ext cx="923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4407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033"/>
                </a:solidFill>
              </a:rPr>
              <a:t>What top AI users did differently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37490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They treated AI as a reasoning partner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They gave clear goals, context, and constraints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They iterated instead of expecting one-shot perfection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42033"/>
                </a:solidFill>
              </a:rPr>
              <a:t>• They used AI to widen ambition, not only save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892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67A"/>
                </a:solidFill>
              </a:rPr>
              <a:t>Meaning for students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5436661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7BFF"/>
                </a:solidFill>
              </a:rPr>
              <a:t>The most valuable habit is learning when to trust AI, challenge it, and build on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77840" y="1417320"/>
            <a:ext cx="5852160" cy="4526280"/>
          </a:xfrm>
          <a:prstGeom prst="roundRect">
            <a:avLst>
              <a:gd name="adj" fmla="val 1616"/>
            </a:avLst>
          </a:prstGeom>
          <a:solidFill>
            <a:srgbClr val="FFF9EA"/>
          </a:solidFill>
          <a:ln w="12700">
            <a:solidFill>
              <a:srgbClr val="EAD5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06440" y="166420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0C5C7"/>
          </a:solidFill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16168" y="1728216"/>
            <a:ext cx="1426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ORGANIZATIONS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404872"/>
            <a:ext cx="347472" cy="0"/>
          </a:xfrm>
          <a:prstGeom prst="line">
            <a:avLst/>
          </a:prstGeom>
          <a:noFill/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2033"/>
                </a:solidFill>
              </a:rPr>
              <a:t>Give agents a role, boundaries, and handoffs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89320" y="3154680"/>
            <a:ext cx="347472" cy="0"/>
          </a:xfrm>
          <a:prstGeom prst="line">
            <a:avLst/>
          </a:prstGeom>
          <a:noFill/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9900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2033"/>
                </a:solidFill>
              </a:rPr>
              <a:t>Train employees, not just deploy software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89320" y="3904488"/>
            <a:ext cx="347472" cy="0"/>
          </a:xfrm>
          <a:prstGeom prst="line">
            <a:avLst/>
          </a:prstGeom>
          <a:noFill/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7398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2033"/>
                </a:solidFill>
              </a:rPr>
              <a:t>Redesign workflows around human + AI collaboration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89320" y="4654296"/>
            <a:ext cx="347472" cy="0"/>
          </a:xfrm>
          <a:prstGeom prst="line">
            <a:avLst/>
          </a:prstGeom>
          <a:noFill/>
          <a:ln w="12700">
            <a:solidFill>
              <a:srgbClr val="20C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448970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033"/>
                </a:solidFill>
              </a:rPr>
              <a:t>Keep governance, accountability, and judgment visible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06440" y="5074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67A"/>
                </a:solidFill>
              </a:rPr>
              <a:t>Final takeaway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06440" y="567551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AI advantage comes from better judgment, better systems, and better leadership.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561920-DA6A-5BB8-4F07-3895F9542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8578"/>
            <a:ext cx="7772400" cy="5593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A37F36-1C89-611C-5012-C9473AA5B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1038578"/>
            <a:ext cx="3960849" cy="59563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0CDD7418-C042-DACC-4F44-6244B707E339}"/>
              </a:ext>
            </a:extLst>
          </p:cNvPr>
          <p:cNvSpPr/>
          <p:nvPr/>
        </p:nvSpPr>
        <p:spPr>
          <a:xfrm>
            <a:off x="594360" y="43891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Roundtable Leadership Development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05982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960</Words>
  <Application>Microsoft Macintosh PowerPoint</Application>
  <PresentationFormat>Widescreen</PresentationFormat>
  <Paragraphs>149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Open Sans</vt:lpstr>
      <vt:lpstr>Office Theme</vt:lpstr>
      <vt:lpstr>CSCI 7000-006  AI-driven Leadership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Recap</dc:title>
  <dc:subject>AI-Driven Leadership Course recap</dc:subject>
  <dc:creator>OpenAI</dc:creator>
  <cp:lastModifiedBy>Danny Dig</cp:lastModifiedBy>
  <cp:revision>12</cp:revision>
  <dcterms:created xsi:type="dcterms:W3CDTF">2026-04-16T00:44:02Z</dcterms:created>
  <dcterms:modified xsi:type="dcterms:W3CDTF">2026-04-16T01:23:34Z</dcterms:modified>
</cp:coreProperties>
</file>